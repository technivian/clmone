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08" d="100"/>
          <a:sy n="108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 external sources. Content is based on the CLM One product capabilities supplied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 external sources. Content is based on the CLM One product capabilities supplied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 external sources. Content is based on the CLM One product capabilities supplied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 external sources. Content is based on the CLM One product capabilities supplied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No external sources. Content is based on the CLM One product capabilities supplied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kicker">
            <a:extLst>
              <a:ext uri="{FF2B5EF4-FFF2-40B4-BE49-F238E27FC236}">
                <a16:creationId xmlns:a16="http://schemas.microsoft.com/office/drawing/2014/main" id="{68F81CC3-731C-4D21-9897-F70E8C3C38A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CLM ON</a:t>
            </a:r>
            <a:r>
              <a:rPr lang="en-US" sz="1200" b="1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</a:t>
            </a:r>
            <a:endParaRPr sz="1200" b="1" dirty="0">
              <a:solidFill>
                <a:srgbClr val="4B556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ule-42-82">
            <a:extLst>
              <a:ext uri="{FF2B5EF4-FFF2-40B4-BE49-F238E27FC236}">
                <a16:creationId xmlns:a16="http://schemas.microsoft.com/office/drawing/2014/main" id="{10D3CF27-B9FA-4739-82EE-3C291F8A0DBF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013DA378-7D04-4B68-911A-A343DDF4E6E0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7334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 fontScale="96702"/>
          </a:bodyPr>
          <a:lstStyle/>
          <a:p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Payroll agreements</a:t>
            </a:r>
          </a:p>
          <a:p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shouldn’t live in inboxes.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F88C151F-96F6-4B13-9EA1-21ECCD1126AF}"/>
              </a:ext>
            </a:extLst>
          </p:cNvPr>
          <p:cNvSpPr>
            <a:spLocks noGrp="1"/>
          </p:cNvSpPr>
          <p:nvPr/>
        </p:nvSpPr>
        <p:spPr>
          <a:xfrm>
            <a:off x="400050" y="4495800"/>
            <a:ext cx="5810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CLM One gives payroll teams one controlled place to intake, confirm, and manage the agreements that affect operations.</a:t>
            </a:r>
          </a:p>
        </p:txBody>
      </p:sp>
      <p:sp>
        <p:nvSpPr>
          <p:cNvPr id="5" name="cover-field">
            <a:extLst>
              <a:ext uri="{FF2B5EF4-FFF2-40B4-BE49-F238E27FC236}">
                <a16:creationId xmlns:a16="http://schemas.microsoft.com/office/drawing/2014/main" id="{37C7FF44-0AE8-4196-A308-3F0D032E4F0F}"/>
              </a:ext>
            </a:extLst>
          </p:cNvPr>
          <p:cNvSpPr>
            <a:spLocks noGrp="1"/>
          </p:cNvSpPr>
          <p:nvPr/>
        </p:nvSpPr>
        <p:spPr>
          <a:xfrm>
            <a:off x="8248650" y="1524000"/>
            <a:ext cx="3143250" cy="31432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cover-field-label">
            <a:extLst>
              <a:ext uri="{FF2B5EF4-FFF2-40B4-BE49-F238E27FC236}">
                <a16:creationId xmlns:a16="http://schemas.microsoft.com/office/drawing/2014/main" id="{ED043996-EB19-4992-9EBC-F14B3265D74C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80"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CONTROLLED RECORD</a:t>
            </a:r>
          </a:p>
        </p:txBody>
      </p:sp>
      <p:sp>
        <p:nvSpPr>
          <p:cNvPr id="7" name="cover-field-copy">
            <a:extLst>
              <a:ext uri="{FF2B5EF4-FFF2-40B4-BE49-F238E27FC236}">
                <a16:creationId xmlns:a16="http://schemas.microsoft.com/office/drawing/2014/main" id="{E720913A-3316-455F-8876-EF3744D10136}"/>
              </a:ext>
            </a:extLst>
          </p:cNvPr>
          <p:cNvSpPr>
            <a:spLocks noGrp="1"/>
          </p:cNvSpPr>
          <p:nvPr/>
        </p:nvSpPr>
        <p:spPr>
          <a:xfrm>
            <a:off x="8572500" y="26479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627"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 document</a:t>
            </a:r>
          </a:p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extracted metadata</a:t>
            </a:r>
          </a:p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human confirmation</a:t>
            </a:r>
          </a:p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audit trail</a:t>
            </a:r>
          </a:p>
        </p:txBody>
      </p:sp>
      <p:sp>
        <p:nvSpPr>
          <p:cNvPr id="8" name="cover-page">
            <a:extLst>
              <a:ext uri="{FF2B5EF4-FFF2-40B4-BE49-F238E27FC236}">
                <a16:creationId xmlns:a16="http://schemas.microsoft.com/office/drawing/2014/main" id="{4B27E143-2C45-472D-80AA-F5BBAF8A39AA}"/>
              </a:ext>
            </a:extLst>
          </p:cNvPr>
          <p:cNvSpPr>
            <a:spLocks noGrp="1"/>
          </p:cNvSpPr>
          <p:nvPr/>
        </p:nvSpPr>
        <p:spPr>
          <a:xfrm>
            <a:off x="11315700" y="624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286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2">
            <a:extLst>
              <a:ext uri="{FF2B5EF4-FFF2-40B4-BE49-F238E27FC236}">
                <a16:creationId xmlns:a16="http://schemas.microsoft.com/office/drawing/2014/main" id="{6CC4E070-A4A3-4EE0-A9D1-FF30E23EDB3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ABC8475-761F-4F16-BE93-86AAEE0F6E2D}"/>
              </a:ext>
            </a:extLst>
          </p:cNvPr>
          <p:cNvSpPr>
            <a:spLocks noGrp="1"/>
          </p:cNvSpPr>
          <p:nvPr/>
        </p:nvSpPr>
        <p:spPr>
          <a:xfrm>
            <a:off x="11334750" y="62484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42-72">
            <a:extLst>
              <a:ext uri="{FF2B5EF4-FFF2-40B4-BE49-F238E27FC236}">
                <a16:creationId xmlns:a16="http://schemas.microsoft.com/office/drawing/2014/main" id="{5CAB03AA-5C59-4A76-9B85-9DCFE45E308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problem-title">
            <a:extLst>
              <a:ext uri="{FF2B5EF4-FFF2-40B4-BE49-F238E27FC236}">
                <a16:creationId xmlns:a16="http://schemas.microsoft.com/office/drawing/2014/main" id="{84B6B302-7848-40D0-8BAF-0F164FE20E6B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friction is operational, not legal.</a:t>
            </a:r>
          </a:p>
        </p:txBody>
      </p:sp>
      <p:sp>
        <p:nvSpPr>
          <p:cNvPr id="5" name="problem-sub">
            <a:extLst>
              <a:ext uri="{FF2B5EF4-FFF2-40B4-BE49-F238E27FC236}">
                <a16:creationId xmlns:a16="http://schemas.microsoft.com/office/drawing/2014/main" id="{E802690E-7B04-4813-A516-5F14D6707F7F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346"/>
          </a:bodyPr>
          <a:lstStyle/>
          <a:p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When agreements are scattered, payroll teams lose the context needed to act with confidence.</a:t>
            </a:r>
          </a:p>
        </p:txBody>
      </p:sp>
      <p:sp>
        <p:nvSpPr>
          <p:cNvPr id="6" name="rule-42-290">
            <a:extLst>
              <a:ext uri="{FF2B5EF4-FFF2-40B4-BE49-F238E27FC236}">
                <a16:creationId xmlns:a16="http://schemas.microsoft.com/office/drawing/2014/main" id="{B1E7C34A-E764-45E4-90B3-19324A159AAF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320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problem-number-0">
            <a:extLst>
              <a:ext uri="{FF2B5EF4-FFF2-40B4-BE49-F238E27FC236}">
                <a16:creationId xmlns:a16="http://schemas.microsoft.com/office/drawing/2014/main" id="{F41490BF-A0F0-415F-9672-FEDED0300469}"/>
              </a:ext>
            </a:extLst>
          </p:cNvPr>
          <p:cNvSpPr>
            <a:spLocks noGrp="1"/>
          </p:cNvSpPr>
          <p:nvPr/>
        </p:nvSpPr>
        <p:spPr>
          <a:xfrm>
            <a:off x="400050" y="30003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roblem-head-0">
            <a:extLst>
              <a:ext uri="{FF2B5EF4-FFF2-40B4-BE49-F238E27FC236}">
                <a16:creationId xmlns:a16="http://schemas.microsoft.com/office/drawing/2014/main" id="{C0CDC7E8-345F-43A5-87BA-00AD3EF1C26C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320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Files arrive everywhere</a:t>
            </a:r>
          </a:p>
        </p:txBody>
      </p:sp>
      <p:sp>
        <p:nvSpPr>
          <p:cNvPr id="9" name="problem-copy-0">
            <a:extLst>
              <a:ext uri="{FF2B5EF4-FFF2-40B4-BE49-F238E27FC236}">
                <a16:creationId xmlns:a16="http://schemas.microsoft.com/office/drawing/2014/main" id="{1CD13709-1CE7-4076-AAF1-A311C1CBE5F2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320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Email attachments, shared drives, and individual folders create an incomplete picture.</a:t>
            </a:r>
          </a:p>
        </p:txBody>
      </p:sp>
      <p:sp>
        <p:nvSpPr>
          <p:cNvPr id="10" name="rule-442-290">
            <a:extLst>
              <a:ext uri="{FF2B5EF4-FFF2-40B4-BE49-F238E27FC236}">
                <a16:creationId xmlns:a16="http://schemas.microsoft.com/office/drawing/2014/main" id="{72707133-1771-41C0-A059-CE53D3A0D0E9}"/>
              </a:ext>
            </a:extLst>
          </p:cNvPr>
          <p:cNvSpPr>
            <a:spLocks noGrp="1"/>
          </p:cNvSpPr>
          <p:nvPr/>
        </p:nvSpPr>
        <p:spPr>
          <a:xfrm>
            <a:off x="4210050" y="2762250"/>
            <a:ext cx="320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problem-number-1">
            <a:extLst>
              <a:ext uri="{FF2B5EF4-FFF2-40B4-BE49-F238E27FC236}">
                <a16:creationId xmlns:a16="http://schemas.microsoft.com/office/drawing/2014/main" id="{B419221B-9B34-476D-915F-99F149B4A62E}"/>
              </a:ext>
            </a:extLst>
          </p:cNvPr>
          <p:cNvSpPr>
            <a:spLocks noGrp="1"/>
          </p:cNvSpPr>
          <p:nvPr/>
        </p:nvSpPr>
        <p:spPr>
          <a:xfrm>
            <a:off x="4210050" y="30003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roblem-head-1">
            <a:extLst>
              <a:ext uri="{FF2B5EF4-FFF2-40B4-BE49-F238E27FC236}">
                <a16:creationId xmlns:a16="http://schemas.microsoft.com/office/drawing/2014/main" id="{C4B56D24-1BF3-4FB9-893C-99362985DC20}"/>
              </a:ext>
            </a:extLst>
          </p:cNvPr>
          <p:cNvSpPr>
            <a:spLocks noGrp="1"/>
          </p:cNvSpPr>
          <p:nvPr/>
        </p:nvSpPr>
        <p:spPr>
          <a:xfrm>
            <a:off x="4210050" y="3562350"/>
            <a:ext cx="320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Ownership is unclear</a:t>
            </a:r>
          </a:p>
        </p:txBody>
      </p:sp>
      <p:sp>
        <p:nvSpPr>
          <p:cNvPr id="13" name="problem-copy-1">
            <a:extLst>
              <a:ext uri="{FF2B5EF4-FFF2-40B4-BE49-F238E27FC236}">
                <a16:creationId xmlns:a16="http://schemas.microsoft.com/office/drawing/2014/main" id="{2D02BB06-1409-4609-B878-D29C5CC47737}"/>
              </a:ext>
            </a:extLst>
          </p:cNvPr>
          <p:cNvSpPr>
            <a:spLocks noGrp="1"/>
          </p:cNvSpPr>
          <p:nvPr/>
        </p:nvSpPr>
        <p:spPr>
          <a:xfrm>
            <a:off x="4210050" y="4400550"/>
            <a:ext cx="320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Teams cannot quickly see who is accountable for a contract or its follow-up.</a:t>
            </a:r>
          </a:p>
        </p:txBody>
      </p:sp>
      <p:sp>
        <p:nvSpPr>
          <p:cNvPr id="14" name="rule-842-290">
            <a:extLst>
              <a:ext uri="{FF2B5EF4-FFF2-40B4-BE49-F238E27FC236}">
                <a16:creationId xmlns:a16="http://schemas.microsoft.com/office/drawing/2014/main" id="{432B0D54-4489-427D-9597-3081722D8CD7}"/>
              </a:ext>
            </a:extLst>
          </p:cNvPr>
          <p:cNvSpPr>
            <a:spLocks noGrp="1"/>
          </p:cNvSpPr>
          <p:nvPr/>
        </p:nvSpPr>
        <p:spPr>
          <a:xfrm>
            <a:off x="8020050" y="2762250"/>
            <a:ext cx="320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problem-number-2">
            <a:extLst>
              <a:ext uri="{FF2B5EF4-FFF2-40B4-BE49-F238E27FC236}">
                <a16:creationId xmlns:a16="http://schemas.microsoft.com/office/drawing/2014/main" id="{20E45C31-88ED-408F-AE4F-CC5F838F3BBF}"/>
              </a:ext>
            </a:extLst>
          </p:cNvPr>
          <p:cNvSpPr>
            <a:spLocks noGrp="1"/>
          </p:cNvSpPr>
          <p:nvPr/>
        </p:nvSpPr>
        <p:spPr>
          <a:xfrm>
            <a:off x="8020050" y="30003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problem-head-2">
            <a:extLst>
              <a:ext uri="{FF2B5EF4-FFF2-40B4-BE49-F238E27FC236}">
                <a16:creationId xmlns:a16="http://schemas.microsoft.com/office/drawing/2014/main" id="{238F05D9-460A-4BD6-A76E-5CABA36A6D7B}"/>
              </a:ext>
            </a:extLst>
          </p:cNvPr>
          <p:cNvSpPr>
            <a:spLocks noGrp="1"/>
          </p:cNvSpPr>
          <p:nvPr/>
        </p:nvSpPr>
        <p:spPr>
          <a:xfrm>
            <a:off x="8020050" y="3562350"/>
            <a:ext cx="320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 obligations are easy to miss</a:t>
            </a:r>
          </a:p>
        </p:txBody>
      </p:sp>
      <p:sp>
        <p:nvSpPr>
          <p:cNvPr id="17" name="problem-copy-2">
            <a:extLst>
              <a:ext uri="{FF2B5EF4-FFF2-40B4-BE49-F238E27FC236}">
                <a16:creationId xmlns:a16="http://schemas.microsoft.com/office/drawing/2014/main" id="{36662338-2278-4CB2-B986-EEDCCAC6A37E}"/>
              </a:ext>
            </a:extLst>
          </p:cNvPr>
          <p:cNvSpPr>
            <a:spLocks noGrp="1"/>
          </p:cNvSpPr>
          <p:nvPr/>
        </p:nvSpPr>
        <p:spPr>
          <a:xfrm>
            <a:off x="8020050" y="4400550"/>
            <a:ext cx="320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Dates, terms, and compliance actions remain trapped in documents instead of daily operations.</a:t>
            </a:r>
          </a:p>
        </p:txBody>
      </p:sp>
    </p:spTree>
    <p:extLst>
      <p:ext uri="{BB962C8B-B14F-4D97-AF65-F5344CB8AC3E}">
        <p14:creationId xmlns:p14="http://schemas.microsoft.com/office/powerpoint/2010/main" val="78292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3">
            <a:extLst>
              <a:ext uri="{FF2B5EF4-FFF2-40B4-BE49-F238E27FC236}">
                <a16:creationId xmlns:a16="http://schemas.microsoft.com/office/drawing/2014/main" id="{2F8CE892-D6A4-4CC2-9330-2FD1FE00BBA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A8524859-3AD9-41D8-8486-678D655173B2}"/>
              </a:ext>
            </a:extLst>
          </p:cNvPr>
          <p:cNvSpPr>
            <a:spLocks noGrp="1"/>
          </p:cNvSpPr>
          <p:nvPr/>
        </p:nvSpPr>
        <p:spPr>
          <a:xfrm>
            <a:off x="11334750" y="62484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42-72">
            <a:extLst>
              <a:ext uri="{FF2B5EF4-FFF2-40B4-BE49-F238E27FC236}">
                <a16:creationId xmlns:a16="http://schemas.microsoft.com/office/drawing/2014/main" id="{3545EED6-378A-4FF2-8AEC-098652BC622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workflow-title">
            <a:extLst>
              <a:ext uri="{FF2B5EF4-FFF2-40B4-BE49-F238E27FC236}">
                <a16:creationId xmlns:a16="http://schemas.microsoft.com/office/drawing/2014/main" id="{BC146669-1813-465D-ACDC-77672CAB414D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CLM One turns contract intake into a controlled workflow.</a:t>
            </a:r>
          </a:p>
        </p:txBody>
      </p:sp>
      <p:sp>
        <p:nvSpPr>
          <p:cNvPr id="5" name="workflow-sub">
            <a:extLst>
              <a:ext uri="{FF2B5EF4-FFF2-40B4-BE49-F238E27FC236}">
                <a16:creationId xmlns:a16="http://schemas.microsoft.com/office/drawing/2014/main" id="{4CDB213D-8CCA-42B5-BBF7-D9B2826036C6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Automation accelerates preparation; people remain responsible for confirmation and decisions.</a:t>
            </a:r>
          </a:p>
        </p:txBody>
      </p:sp>
      <p:sp>
        <p:nvSpPr>
          <p:cNvPr id="6" name="workflow-arrow-0">
            <a:extLst>
              <a:ext uri="{FF2B5EF4-FFF2-40B4-BE49-F238E27FC236}">
                <a16:creationId xmlns:a16="http://schemas.microsoft.com/office/drawing/2014/main" id="{1A70A6E5-3B88-4BA2-B3E6-AA0452956FAA}"/>
              </a:ext>
            </a:extLst>
          </p:cNvPr>
          <p:cNvSpPr>
            <a:spLocks noGrp="1"/>
          </p:cNvSpPr>
          <p:nvPr/>
        </p:nvSpPr>
        <p:spPr>
          <a:xfrm>
            <a:off x="2886075" y="3829050"/>
            <a:ext cx="40005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workflow-arrow-1">
            <a:extLst>
              <a:ext uri="{FF2B5EF4-FFF2-40B4-BE49-F238E27FC236}">
                <a16:creationId xmlns:a16="http://schemas.microsoft.com/office/drawing/2014/main" id="{B768CD8D-D54B-482A-BE5A-646639404579}"/>
              </a:ext>
            </a:extLst>
          </p:cNvPr>
          <p:cNvSpPr>
            <a:spLocks noGrp="1"/>
          </p:cNvSpPr>
          <p:nvPr/>
        </p:nvSpPr>
        <p:spPr>
          <a:xfrm>
            <a:off x="5762625" y="3829050"/>
            <a:ext cx="40005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workflow-arrow-2">
            <a:extLst>
              <a:ext uri="{FF2B5EF4-FFF2-40B4-BE49-F238E27FC236}">
                <a16:creationId xmlns:a16="http://schemas.microsoft.com/office/drawing/2014/main" id="{8B546D1E-767F-4587-9855-052A9ECC905F}"/>
              </a:ext>
            </a:extLst>
          </p:cNvPr>
          <p:cNvSpPr>
            <a:spLocks noGrp="1"/>
          </p:cNvSpPr>
          <p:nvPr/>
        </p:nvSpPr>
        <p:spPr>
          <a:xfrm>
            <a:off x="8639175" y="3829050"/>
            <a:ext cx="40005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workflow-card-0">
            <a:extLst>
              <a:ext uri="{FF2B5EF4-FFF2-40B4-BE49-F238E27FC236}">
                <a16:creationId xmlns:a16="http://schemas.microsoft.com/office/drawing/2014/main" id="{1F75A359-6B26-4F73-B8B2-A3BD0951057B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23812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workflow-card-1">
            <a:extLst>
              <a:ext uri="{FF2B5EF4-FFF2-40B4-BE49-F238E27FC236}">
                <a16:creationId xmlns:a16="http://schemas.microsoft.com/office/drawing/2014/main" id="{C5581EE0-552C-4A06-8D60-FEEBAB7CD4B4}"/>
              </a:ext>
            </a:extLst>
          </p:cNvPr>
          <p:cNvSpPr>
            <a:spLocks noGrp="1"/>
          </p:cNvSpPr>
          <p:nvPr/>
        </p:nvSpPr>
        <p:spPr>
          <a:xfrm>
            <a:off x="3276600" y="2914650"/>
            <a:ext cx="2381250" cy="20383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workflow-card-2">
            <a:extLst>
              <a:ext uri="{FF2B5EF4-FFF2-40B4-BE49-F238E27FC236}">
                <a16:creationId xmlns:a16="http://schemas.microsoft.com/office/drawing/2014/main" id="{96396400-7F18-4FF7-832F-FF0EF3F62297}"/>
              </a:ext>
            </a:extLst>
          </p:cNvPr>
          <p:cNvSpPr>
            <a:spLocks noGrp="1"/>
          </p:cNvSpPr>
          <p:nvPr/>
        </p:nvSpPr>
        <p:spPr>
          <a:xfrm>
            <a:off x="6153150" y="2914650"/>
            <a:ext cx="23812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workflow-card-3">
            <a:extLst>
              <a:ext uri="{FF2B5EF4-FFF2-40B4-BE49-F238E27FC236}">
                <a16:creationId xmlns:a16="http://schemas.microsoft.com/office/drawing/2014/main" id="{FBFFBCD2-5ADE-4B5B-B0F6-AB625B4A5294}"/>
              </a:ext>
            </a:extLst>
          </p:cNvPr>
          <p:cNvSpPr>
            <a:spLocks noGrp="1"/>
          </p:cNvSpPr>
          <p:nvPr/>
        </p:nvSpPr>
        <p:spPr>
          <a:xfrm>
            <a:off x="9029700" y="2914650"/>
            <a:ext cx="23812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workflow-number-0">
            <a:extLst>
              <a:ext uri="{FF2B5EF4-FFF2-40B4-BE49-F238E27FC236}">
                <a16:creationId xmlns:a16="http://schemas.microsoft.com/office/drawing/2014/main" id="{180CA9C9-B838-420B-94F9-69CDD31A9B45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workflow-head-0">
            <a:extLst>
              <a:ext uri="{FF2B5EF4-FFF2-40B4-BE49-F238E27FC236}">
                <a16:creationId xmlns:a16="http://schemas.microsoft.com/office/drawing/2014/main" id="{1E66B313-18E0-4F77-B8ED-F6A9802428AF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 OR FORWARD</a:t>
            </a:r>
          </a:p>
        </p:txBody>
      </p:sp>
      <p:sp>
        <p:nvSpPr>
          <p:cNvPr id="15" name="workflow-copy-0">
            <a:extLst>
              <a:ext uri="{FF2B5EF4-FFF2-40B4-BE49-F238E27FC236}">
                <a16:creationId xmlns:a16="http://schemas.microsoft.com/office/drawing/2014/main" id="{C49F26D8-747E-4F86-AA62-E0E058C17B1F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32"/>
          </a:bodyPr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Bring in a folder of files or forward email attachments.</a:t>
            </a:r>
          </a:p>
        </p:txBody>
      </p:sp>
      <p:sp>
        <p:nvSpPr>
          <p:cNvPr id="16" name="workflow-number-1">
            <a:extLst>
              <a:ext uri="{FF2B5EF4-FFF2-40B4-BE49-F238E27FC236}">
                <a16:creationId xmlns:a16="http://schemas.microsoft.com/office/drawing/2014/main" id="{E3C80E04-362C-42F6-83A5-0058068B4778}"/>
              </a:ext>
            </a:extLst>
          </p:cNvPr>
          <p:cNvSpPr>
            <a:spLocks noGrp="1"/>
          </p:cNvSpPr>
          <p:nvPr/>
        </p:nvSpPr>
        <p:spPr>
          <a:xfrm>
            <a:off x="3467100" y="31623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workflow-head-1">
            <a:extLst>
              <a:ext uri="{FF2B5EF4-FFF2-40B4-BE49-F238E27FC236}">
                <a16:creationId xmlns:a16="http://schemas.microsoft.com/office/drawing/2014/main" id="{D0B48B24-6605-4857-84D4-2D9000A03104}"/>
              </a:ext>
            </a:extLst>
          </p:cNvPr>
          <p:cNvSpPr>
            <a:spLocks noGrp="1"/>
          </p:cNvSpPr>
          <p:nvPr/>
        </p:nvSpPr>
        <p:spPr>
          <a:xfrm>
            <a:off x="3467100" y="3619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8" name="workflow-copy-1">
            <a:extLst>
              <a:ext uri="{FF2B5EF4-FFF2-40B4-BE49-F238E27FC236}">
                <a16:creationId xmlns:a16="http://schemas.microsoft.com/office/drawing/2014/main" id="{2FA50CE2-0736-4667-9239-F80445211E5C}"/>
              </a:ext>
            </a:extLst>
          </p:cNvPr>
          <p:cNvSpPr>
            <a:spLocks noGrp="1"/>
          </p:cNvSpPr>
          <p:nvPr/>
        </p:nvSpPr>
        <p:spPr>
          <a:xfrm>
            <a:off x="3467100" y="4267200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771"/>
          </a:bodyPr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Capture readable metadata and preserve it as unverified review context.</a:t>
            </a:r>
          </a:p>
        </p:txBody>
      </p:sp>
      <p:sp>
        <p:nvSpPr>
          <p:cNvPr id="19" name="workflow-number-2">
            <a:extLst>
              <a:ext uri="{FF2B5EF4-FFF2-40B4-BE49-F238E27FC236}">
                <a16:creationId xmlns:a16="http://schemas.microsoft.com/office/drawing/2014/main" id="{01336A08-C0D6-430A-B4E9-9A50D6F8946A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workflow-head-2">
            <a:extLst>
              <a:ext uri="{FF2B5EF4-FFF2-40B4-BE49-F238E27FC236}">
                <a16:creationId xmlns:a16="http://schemas.microsoft.com/office/drawing/2014/main" id="{26C3ECAF-3B5C-4C32-AFCD-AF6BAF79341E}"/>
              </a:ext>
            </a:extLst>
          </p:cNvPr>
          <p:cNvSpPr>
            <a:spLocks noGrp="1"/>
          </p:cNvSpPr>
          <p:nvPr/>
        </p:nvSpPr>
        <p:spPr>
          <a:xfrm>
            <a:off x="6343650" y="3619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1" name="workflow-copy-2">
            <a:extLst>
              <a:ext uri="{FF2B5EF4-FFF2-40B4-BE49-F238E27FC236}">
                <a16:creationId xmlns:a16="http://schemas.microsoft.com/office/drawing/2014/main" id="{3DD7F038-4722-4FCB-A832-636DA67AC483}"/>
              </a:ext>
            </a:extLst>
          </p:cNvPr>
          <p:cNvSpPr>
            <a:spLocks noGrp="1"/>
          </p:cNvSpPr>
          <p:nvPr/>
        </p:nvSpPr>
        <p:spPr>
          <a:xfrm>
            <a:off x="6343650" y="4267200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771"/>
          </a:bodyPr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reviewer verifies ownership, dates, type, and other key details.</a:t>
            </a:r>
          </a:p>
        </p:txBody>
      </p:sp>
      <p:sp>
        <p:nvSpPr>
          <p:cNvPr id="22" name="workflow-number-3">
            <a:extLst>
              <a:ext uri="{FF2B5EF4-FFF2-40B4-BE49-F238E27FC236}">
                <a16:creationId xmlns:a16="http://schemas.microsoft.com/office/drawing/2014/main" id="{8E5DFB0A-427C-4BE9-9054-B949DCF348AB}"/>
              </a:ext>
            </a:extLst>
          </p:cNvPr>
          <p:cNvSpPr>
            <a:spLocks noGrp="1"/>
          </p:cNvSpPr>
          <p:nvPr/>
        </p:nvSpPr>
        <p:spPr>
          <a:xfrm>
            <a:off x="9220200" y="31623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workflow-head-3">
            <a:extLst>
              <a:ext uri="{FF2B5EF4-FFF2-40B4-BE49-F238E27FC236}">
                <a16:creationId xmlns:a16="http://schemas.microsoft.com/office/drawing/2014/main" id="{FB8D5838-EF2E-4F32-A754-1EB45B069C77}"/>
              </a:ext>
            </a:extLst>
          </p:cNvPr>
          <p:cNvSpPr>
            <a:spLocks noGrp="1"/>
          </p:cNvSpPr>
          <p:nvPr/>
        </p:nvSpPr>
        <p:spPr>
          <a:xfrm>
            <a:off x="9220200" y="3619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MANAGE</a:t>
            </a:r>
          </a:p>
        </p:txBody>
      </p:sp>
      <p:sp>
        <p:nvSpPr>
          <p:cNvPr id="24" name="workflow-copy-3">
            <a:extLst>
              <a:ext uri="{FF2B5EF4-FFF2-40B4-BE49-F238E27FC236}">
                <a16:creationId xmlns:a16="http://schemas.microsoft.com/office/drawing/2014/main" id="{B501CA46-5DB7-4FD7-8A8E-16B7C608FF57}"/>
              </a:ext>
            </a:extLst>
          </p:cNvPr>
          <p:cNvSpPr>
            <a:spLocks noGrp="1"/>
          </p:cNvSpPr>
          <p:nvPr/>
        </p:nvSpPr>
        <p:spPr>
          <a:xfrm>
            <a:off x="9220200" y="4267200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771"/>
          </a:bodyPr>
          <a:lstStyle/>
          <a:p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Keep the source, audit trail, and follow-up work in one record.</a:t>
            </a:r>
          </a:p>
        </p:txBody>
      </p:sp>
      <p:sp>
        <p:nvSpPr>
          <p:cNvPr id="25" name="workflow-bottom">
            <a:extLst>
              <a:ext uri="{FF2B5EF4-FFF2-40B4-BE49-F238E27FC236}">
                <a16:creationId xmlns:a16="http://schemas.microsoft.com/office/drawing/2014/main" id="{E1521EE0-CFE7-49DF-866B-FF3E231C8F5D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9334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98"/>
          </a:bodyPr>
          <a:lstStyle/>
          <a:p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Every imported document retains its source version and an auditable path back to how it entered CLM One.</a:t>
            </a:r>
          </a:p>
        </p:txBody>
      </p:sp>
    </p:spTree>
    <p:extLst>
      <p:ext uri="{BB962C8B-B14F-4D97-AF65-F5344CB8AC3E}">
        <p14:creationId xmlns:p14="http://schemas.microsoft.com/office/powerpoint/2010/main" val="106519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4">
            <a:extLst>
              <a:ext uri="{FF2B5EF4-FFF2-40B4-BE49-F238E27FC236}">
                <a16:creationId xmlns:a16="http://schemas.microsoft.com/office/drawing/2014/main" id="{484DD176-78E5-4DBD-9118-3CBB883B108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WHY PAYROLL TEAMS CARE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C9966A00-568E-45FE-9F0A-83DFE5768145}"/>
              </a:ext>
            </a:extLst>
          </p:cNvPr>
          <p:cNvSpPr>
            <a:spLocks noGrp="1"/>
          </p:cNvSpPr>
          <p:nvPr/>
        </p:nvSpPr>
        <p:spPr>
          <a:xfrm>
            <a:off x="11334750" y="62484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42-72">
            <a:extLst>
              <a:ext uri="{FF2B5EF4-FFF2-40B4-BE49-F238E27FC236}">
                <a16:creationId xmlns:a16="http://schemas.microsoft.com/office/drawing/2014/main" id="{3515DF15-EE0C-4FB5-804E-056D17D3935B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benefits-title">
            <a:extLst>
              <a:ext uri="{FF2B5EF4-FFF2-40B4-BE49-F238E27FC236}">
                <a16:creationId xmlns:a16="http://schemas.microsoft.com/office/drawing/2014/main" id="{132708A6-E64D-4734-B7AA-421CBA57CB36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payroll admins gain immediately</a:t>
            </a:r>
          </a:p>
        </p:txBody>
      </p:sp>
      <p:sp>
        <p:nvSpPr>
          <p:cNvPr id="5" name="benefits-sub">
            <a:extLst>
              <a:ext uri="{FF2B5EF4-FFF2-40B4-BE49-F238E27FC236}">
                <a16:creationId xmlns:a16="http://schemas.microsoft.com/office/drawing/2014/main" id="{4810521E-D3D9-464D-9777-9A686853FDE7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904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clearer operating model for agreements that affect people, payments, and compliance.</a:t>
            </a:r>
          </a:p>
        </p:txBody>
      </p:sp>
      <p:sp>
        <p:nvSpPr>
          <p:cNvPr id="6" name="benefit-panel-0">
            <a:extLst>
              <a:ext uri="{FF2B5EF4-FFF2-40B4-BE49-F238E27FC236}">
                <a16:creationId xmlns:a16="http://schemas.microsoft.com/office/drawing/2014/main" id="{563D4F16-0B50-42DF-B31D-81570941C9D6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333375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benefit-label-0">
            <a:extLst>
              <a:ext uri="{FF2B5EF4-FFF2-40B4-BE49-F238E27FC236}">
                <a16:creationId xmlns:a16="http://schemas.microsoft.com/office/drawing/2014/main" id="{7B14C97D-AFDC-4A8C-9435-523A50047A1C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RECORD</a:t>
            </a:r>
          </a:p>
        </p:txBody>
      </p:sp>
      <p:sp>
        <p:nvSpPr>
          <p:cNvPr id="8" name="benefit-copy-0">
            <a:extLst>
              <a:ext uri="{FF2B5EF4-FFF2-40B4-BE49-F238E27FC236}">
                <a16:creationId xmlns:a16="http://schemas.microsoft.com/office/drawing/2014/main" id="{1868B93A-1818-4B3B-99D9-E9453C5A5913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3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single place to find the source agreement, current context, and activity history.</a:t>
            </a:r>
          </a:p>
        </p:txBody>
      </p:sp>
      <p:sp>
        <p:nvSpPr>
          <p:cNvPr id="9" name="benefit-panel-1">
            <a:extLst>
              <a:ext uri="{FF2B5EF4-FFF2-40B4-BE49-F238E27FC236}">
                <a16:creationId xmlns:a16="http://schemas.microsoft.com/office/drawing/2014/main" id="{DA8CB250-5F4A-49A3-A5B5-AFFABAD249B6}"/>
              </a:ext>
            </a:extLst>
          </p:cNvPr>
          <p:cNvSpPr>
            <a:spLocks noGrp="1"/>
          </p:cNvSpPr>
          <p:nvPr/>
        </p:nvSpPr>
        <p:spPr>
          <a:xfrm>
            <a:off x="4210050" y="2952750"/>
            <a:ext cx="333375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benefit-label-1">
            <a:extLst>
              <a:ext uri="{FF2B5EF4-FFF2-40B4-BE49-F238E27FC236}">
                <a16:creationId xmlns:a16="http://schemas.microsoft.com/office/drawing/2014/main" id="{01D02953-D57B-4EC7-A8F3-DE75CE3C41CB}"/>
              </a:ext>
            </a:extLst>
          </p:cNvPr>
          <p:cNvSpPr>
            <a:spLocks noGrp="1"/>
          </p:cNvSpPr>
          <p:nvPr/>
        </p:nvSpPr>
        <p:spPr>
          <a:xfrm>
            <a:off x="4476750" y="33147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CLEAR OWNERSHIP</a:t>
            </a:r>
          </a:p>
        </p:txBody>
      </p:sp>
      <p:sp>
        <p:nvSpPr>
          <p:cNvPr id="11" name="benefit-copy-1">
            <a:extLst>
              <a:ext uri="{FF2B5EF4-FFF2-40B4-BE49-F238E27FC236}">
                <a16:creationId xmlns:a16="http://schemas.microsoft.com/office/drawing/2014/main" id="{9E192263-365E-4EA8-A26E-10B1448464D2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90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record can be routed to the person responsible for confirmation and follow-up.</a:t>
            </a:r>
          </a:p>
        </p:txBody>
      </p:sp>
      <p:sp>
        <p:nvSpPr>
          <p:cNvPr id="12" name="benefit-panel-2">
            <a:extLst>
              <a:ext uri="{FF2B5EF4-FFF2-40B4-BE49-F238E27FC236}">
                <a16:creationId xmlns:a16="http://schemas.microsoft.com/office/drawing/2014/main" id="{AF053772-9BF2-4772-8017-2298C1C8A2E0}"/>
              </a:ext>
            </a:extLst>
          </p:cNvPr>
          <p:cNvSpPr>
            <a:spLocks noGrp="1"/>
          </p:cNvSpPr>
          <p:nvPr/>
        </p:nvSpPr>
        <p:spPr>
          <a:xfrm>
            <a:off x="8020050" y="2952750"/>
            <a:ext cx="333375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benefit-label-2">
            <a:extLst>
              <a:ext uri="{FF2B5EF4-FFF2-40B4-BE49-F238E27FC236}">
                <a16:creationId xmlns:a16="http://schemas.microsoft.com/office/drawing/2014/main" id="{3C8A31F6-CDB1-4CFA-9A67-97956CDC08E5}"/>
              </a:ext>
            </a:extLst>
          </p:cNvPr>
          <p:cNvSpPr>
            <a:spLocks noGrp="1"/>
          </p:cNvSpPr>
          <p:nvPr/>
        </p:nvSpPr>
        <p:spPr>
          <a:xfrm>
            <a:off x="8286750" y="3314700"/>
            <a:ext cx="271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AUDITABLE ACTIONS</a:t>
            </a:r>
          </a:p>
        </p:txBody>
      </p:sp>
      <p:sp>
        <p:nvSpPr>
          <p:cNvPr id="14" name="benefit-copy-2">
            <a:extLst>
              <a:ext uri="{FF2B5EF4-FFF2-40B4-BE49-F238E27FC236}">
                <a16:creationId xmlns:a16="http://schemas.microsoft.com/office/drawing/2014/main" id="{750BB04E-1A26-4701-B902-5B1EEBFD7BBD}"/>
              </a:ext>
            </a:extLst>
          </p:cNvPr>
          <p:cNvSpPr>
            <a:spLocks noGrp="1"/>
          </p:cNvSpPr>
          <p:nvPr/>
        </p:nvSpPr>
        <p:spPr>
          <a:xfrm>
            <a:off x="8286750" y="39052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5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Imports, extracted metadata, and review activity are visible and traceable.</a:t>
            </a:r>
          </a:p>
        </p:txBody>
      </p:sp>
    </p:spTree>
    <p:extLst>
      <p:ext uri="{BB962C8B-B14F-4D97-AF65-F5344CB8AC3E}">
        <p14:creationId xmlns:p14="http://schemas.microsoft.com/office/powerpoint/2010/main" val="60579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e-kicker">
            <a:extLst>
              <a:ext uri="{FF2B5EF4-FFF2-40B4-BE49-F238E27FC236}">
                <a16:creationId xmlns:a16="http://schemas.microsoft.com/office/drawing/2014/main" id="{A7DA4CE1-4C7B-486E-BFDD-439EE6DD810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OUTCOME</a:t>
            </a:r>
          </a:p>
        </p:txBody>
      </p:sp>
      <p:sp>
        <p:nvSpPr>
          <p:cNvPr id="2" name="rule-42-82">
            <a:extLst>
              <a:ext uri="{FF2B5EF4-FFF2-40B4-BE49-F238E27FC236}">
                <a16:creationId xmlns:a16="http://schemas.microsoft.com/office/drawing/2014/main" id="{2FA04ED0-57BD-482A-8E8C-9440A9C84EB3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4AC4F185-8C2B-4C55-9DC7-FCB1EFD13813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8572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reliable contract record</a:t>
            </a:r>
          </a:p>
          <a:p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payroll operations.</a:t>
            </a:r>
          </a:p>
        </p:txBody>
      </p:sp>
      <p:sp>
        <p:nvSpPr>
          <p:cNvPr id="4" name="close-copy">
            <a:extLst>
              <a:ext uri="{FF2B5EF4-FFF2-40B4-BE49-F238E27FC236}">
                <a16:creationId xmlns:a16="http://schemas.microsoft.com/office/drawing/2014/main" id="{AEBA2933-E376-44DB-AC00-0974253B0867}"/>
              </a:ext>
            </a:extLst>
          </p:cNvPr>
          <p:cNvSpPr>
            <a:spLocks noGrp="1"/>
          </p:cNvSpPr>
          <p:nvPr/>
        </p:nvSpPr>
        <p:spPr>
          <a:xfrm>
            <a:off x="400050" y="48196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50"/>
          </a:bodyPr>
          <a:lstStyle/>
          <a:p>
            <a:pPr algn="l">
              <a:def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Start with one existing folder or shared inbox.</a:t>
            </a:r>
          </a:p>
          <a:p>
            <a:pPr algn="l">
              <a:def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Bring the agreements in, confirm what matters, and give payroll a dependable operational record.</a:t>
            </a:r>
          </a:p>
        </p:txBody>
      </p:sp>
      <p:sp>
        <p:nvSpPr>
          <p:cNvPr id="6" name="close-page">
            <a:extLst>
              <a:ext uri="{FF2B5EF4-FFF2-40B4-BE49-F238E27FC236}">
                <a16:creationId xmlns:a16="http://schemas.microsoft.com/office/drawing/2014/main" id="{F962E55D-07B8-4DB8-B590-CCE703272CDC}"/>
              </a:ext>
            </a:extLst>
          </p:cNvPr>
          <p:cNvSpPr>
            <a:spLocks noGrp="1"/>
          </p:cNvSpPr>
          <p:nvPr/>
        </p:nvSpPr>
        <p:spPr>
          <a:xfrm>
            <a:off x="11315700" y="624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8748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03e95be-f593-41dc-b647-f46fbd6a5fa3}" enabled="1" method="Standard" siteId="{8c653938-6726-49c5-bca7-8e44a4bf202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Macintosh PowerPoint</Application>
  <DocSecurity>0</DocSecurity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Haroon Wahed</cp:lastModifiedBy>
  <cp:revision>1</cp:revision>
  <dcterms:created xsi:type="dcterms:W3CDTF">2026-07-28T07:49:02Z</dcterms:created>
  <dcterms:modified xsi:type="dcterms:W3CDTF">2026-07-28T12:31:28Z</dcterms:modified>
</cp:coreProperties>
</file>